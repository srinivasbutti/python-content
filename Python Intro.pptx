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2" r:id="rId2"/>
    <p:sldId id="274" r:id="rId3"/>
    <p:sldId id="275" r:id="rId4"/>
    <p:sldId id="256" r:id="rId5"/>
    <p:sldId id="264" r:id="rId6"/>
    <p:sldId id="263" r:id="rId7"/>
    <p:sldId id="265" r:id="rId8"/>
    <p:sldId id="257" r:id="rId9"/>
    <p:sldId id="277" r:id="rId10"/>
    <p:sldId id="278" r:id="rId11"/>
    <p:sldId id="266" r:id="rId12"/>
    <p:sldId id="261" r:id="rId13"/>
    <p:sldId id="258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5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19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277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2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1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94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4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423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582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2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92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005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04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01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171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273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06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70974B60-056F-41A8-A8B4-A4D59AB44A44}" type="datetimeFigureOut">
              <a:rPr lang="en-IN" smtClean="0"/>
              <a:pPr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AC937222-1ECD-43F1-BD15-C0389DCE8D6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78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EE6E-CC57-439A-AB62-30809639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338936" cy="1143000"/>
          </a:xfrm>
        </p:spPr>
        <p:txBody>
          <a:bodyPr/>
          <a:lstStyle/>
          <a:p>
            <a:pPr algn="l"/>
            <a:r>
              <a:rPr lang="en-US" dirty="0"/>
              <a:t>Python History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71E568-1551-4205-B5B1-51E24D821D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121" y="116632"/>
            <a:ext cx="2276475" cy="2247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C4725-579D-4E1A-8239-7EC8F39015F5}"/>
              </a:ext>
            </a:extLst>
          </p:cNvPr>
          <p:cNvSpPr txBox="1"/>
          <p:nvPr/>
        </p:nvSpPr>
        <p:spPr>
          <a:xfrm>
            <a:off x="475528" y="2396438"/>
            <a:ext cx="8229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Python programming language was conceived by</a:t>
            </a:r>
            <a:r>
              <a:rPr lang="en-IN" sz="2400" dirty="0">
                <a:solidFill>
                  <a:srgbClr val="FF0000"/>
                </a:solidFill>
                <a:highlight>
                  <a:srgbClr val="FFFF00"/>
                </a:highlight>
              </a:rPr>
              <a:t> Guido van Rossum</a:t>
            </a:r>
            <a:r>
              <a:rPr lang="en-IN" sz="2400" dirty="0"/>
              <a:t>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 Guido van Rossum started python implementation at</a:t>
            </a:r>
            <a:r>
              <a:rPr lang="nl-NL" b="1" dirty="0"/>
              <a:t>  Centrum Wiskunde &amp; Informatica (CWI) </a:t>
            </a:r>
            <a:r>
              <a:rPr lang="en-IN" sz="2400" dirty="0"/>
              <a:t> in the Netherlands in December 1989 and released 1</a:t>
            </a:r>
            <a:r>
              <a:rPr lang="en-IN" sz="2400" baseline="30000" dirty="0"/>
              <a:t>st</a:t>
            </a:r>
            <a:r>
              <a:rPr lang="en-IN" sz="2400" dirty="0"/>
              <a:t> version in Feb. 1991.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He was named after the BBC TV show </a:t>
            </a:r>
            <a:r>
              <a:rPr lang="en-IN" sz="2400" dirty="0">
                <a:highlight>
                  <a:srgbClr val="FFFF00"/>
                </a:highlight>
              </a:rPr>
              <a:t>Monty‘s Python Flying Circus in late 1980’s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674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981200" y="0"/>
            <a:ext cx="48526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Python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0067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1) Easy to Learn and Use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Python is easy to learn and use. It is developer-friendly and high level programming language.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52400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2) Expressive Language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Python language is more expressive means that it is more understandable and readable.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62200"/>
            <a:ext cx="769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3) Interpreted Language</a:t>
            </a:r>
          </a:p>
          <a:p>
            <a:r>
              <a:rPr lang="en-US" dirty="0">
                <a:solidFill>
                  <a:schemeClr val="bg1"/>
                </a:solidFill>
              </a:rPr>
              <a:t>Python is an interpreted language i.e. interpreter executes the code line by line at a time. This makes debugging easy and thus suitable for beginners.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05200"/>
            <a:ext cx="7696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4) Cross-platform Language</a:t>
            </a:r>
          </a:p>
          <a:p>
            <a:r>
              <a:rPr lang="en-US" dirty="0">
                <a:solidFill>
                  <a:schemeClr val="bg1"/>
                </a:solidFill>
              </a:rPr>
              <a:t>Python can run equally on different platforms such as Windows, Linux, Unix and Macintosh etc. So, we can say that Python is a portable language.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244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5) Free and Open Source</a:t>
            </a:r>
          </a:p>
          <a:p>
            <a:r>
              <a:rPr lang="en-US" dirty="0">
                <a:solidFill>
                  <a:schemeClr val="bg1"/>
                </a:solidFill>
              </a:rPr>
              <a:t>Python language is freely available at </a:t>
            </a:r>
            <a:r>
              <a:rPr lang="en-US" dirty="0">
                <a:solidFill>
                  <a:schemeClr val="bg1"/>
                </a:solidFill>
                <a:hlinkClick r:id="rId2"/>
              </a:rPr>
              <a:t>official web address</a:t>
            </a:r>
            <a:r>
              <a:rPr lang="en-US" dirty="0">
                <a:solidFill>
                  <a:schemeClr val="bg1"/>
                </a:solidFill>
              </a:rPr>
              <a:t>. The source-code is also available. Therefore it is open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33400" y="3810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6) Object-Oriented programming Language</a:t>
            </a:r>
          </a:p>
          <a:p>
            <a:r>
              <a:rPr lang="en-US" dirty="0">
                <a:solidFill>
                  <a:schemeClr val="bg1"/>
                </a:solidFill>
              </a:rPr>
              <a:t>Python supports object oriented language concepts of classes and objects come into existence.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371600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7) Extensible &amp; Integrated</a:t>
            </a:r>
          </a:p>
          <a:p>
            <a:r>
              <a:rPr lang="en-US" dirty="0">
                <a:solidFill>
                  <a:schemeClr val="bg1"/>
                </a:solidFill>
              </a:rPr>
              <a:t>It implies that other languages such as C/C++ can be used to compile the code and thus it can be used further in our python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2098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8) Large Standard Library</a:t>
            </a:r>
          </a:p>
          <a:p>
            <a:r>
              <a:rPr lang="en-US" dirty="0">
                <a:solidFill>
                  <a:schemeClr val="bg1"/>
                </a:solidFill>
              </a:rPr>
              <a:t>Python has a large and broad library and provides rich set of module and functions for rapid application development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3048000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9) GUI Programming Support</a:t>
            </a:r>
          </a:p>
          <a:p>
            <a:r>
              <a:rPr lang="en-US" dirty="0">
                <a:solidFill>
                  <a:schemeClr val="bg1"/>
                </a:solidFill>
              </a:rPr>
              <a:t>Graphical user interfaces / windows based apps can be developed .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3400" y="3733800"/>
            <a:ext cx="792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10) Garbage collection</a:t>
            </a:r>
          </a:p>
          <a:p>
            <a:r>
              <a:rPr lang="en-US" dirty="0">
                <a:solidFill>
                  <a:schemeClr val="bg1"/>
                </a:solidFill>
              </a:rPr>
              <a:t>I python gc() automatically garbage collects after utilization of the memory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495800"/>
            <a:ext cx="800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11) Python is Portable(architecture neutral):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Python is portable language . </a:t>
            </a:r>
            <a:r>
              <a:rPr lang="en-US" dirty="0" err="1">
                <a:solidFill>
                  <a:schemeClr val="bg1"/>
                </a:solidFill>
              </a:rPr>
              <a:t>i.e</a:t>
            </a:r>
            <a:r>
              <a:rPr lang="en-US" dirty="0">
                <a:solidFill>
                  <a:schemeClr val="bg1"/>
                </a:solidFill>
              </a:rPr>
              <a:t> python code run on platform such as windows, Linux, Unix and Mac then we do not need to change it.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33400" y="5334000"/>
            <a:ext cx="800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12) Dynamically Typed: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Python is dynamically-typed language. </a:t>
            </a:r>
            <a:r>
              <a:rPr lang="en-US" dirty="0" err="1">
                <a:solidFill>
                  <a:schemeClr val="bg1"/>
                </a:solidFill>
              </a:rPr>
              <a:t>i.e</a:t>
            </a:r>
            <a:r>
              <a:rPr lang="en-US" dirty="0">
                <a:solidFill>
                  <a:schemeClr val="bg1"/>
                </a:solidFill>
              </a:rPr>
              <a:t> for a variable is decided at run time not in advance. because of this feature we don’t need to specify the type of variable.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516" y="476672"/>
            <a:ext cx="4068452" cy="619268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core python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History of python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Applications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Users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features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Keywords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Operators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i/o statements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Flow control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Strings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List /tuple / dictionary / sets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Functions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Modules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Packages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File handling</a:t>
            </a:r>
          </a:p>
          <a:p>
            <a:pPr marL="342900" indent="-342900" algn="l">
              <a:buFont typeface="+mj-lt"/>
              <a:buAutoNum type="arabicPeriod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en-IN" dirty="0">
              <a:solidFill>
                <a:schemeClr val="tx1"/>
              </a:solidFill>
            </a:endParaRP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064FD9-D2E4-4D79-B00C-672CA846253C}"/>
              </a:ext>
            </a:extLst>
          </p:cNvPr>
          <p:cNvSpPr txBox="1">
            <a:spLocks/>
          </p:cNvSpPr>
          <p:nvPr/>
        </p:nvSpPr>
        <p:spPr>
          <a:xfrm>
            <a:off x="4499992" y="476672"/>
            <a:ext cx="4248472" cy="61926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advanced python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OOPS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Exception handling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Multi threading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Regular expressions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</a:rPr>
              <a:t>Gui</a:t>
            </a:r>
            <a:r>
              <a:rPr lang="en-IN" dirty="0">
                <a:solidFill>
                  <a:schemeClr val="tx1"/>
                </a:solidFill>
              </a:rPr>
              <a:t> using </a:t>
            </a:r>
            <a:r>
              <a:rPr lang="en-IN" dirty="0" err="1">
                <a:solidFill>
                  <a:schemeClr val="tx1"/>
                </a:solidFill>
              </a:rPr>
              <a:t>tkinter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solidFill>
                  <a:schemeClr val="tx1"/>
                </a:solidFill>
              </a:rPr>
              <a:t>Pdbc</a:t>
            </a:r>
            <a:r>
              <a:rPr lang="en-IN" dirty="0">
                <a:solidFill>
                  <a:schemeClr val="tx1"/>
                </a:solidFill>
              </a:rPr>
              <a:t> using my/</a:t>
            </a:r>
            <a:r>
              <a:rPr lang="en-IN" dirty="0" err="1">
                <a:solidFill>
                  <a:schemeClr val="tx1"/>
                </a:solidFill>
              </a:rPr>
              <a:t>sql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Towards Data science </a:t>
            </a:r>
            <a:r>
              <a:rPr lang="en-IN" dirty="0" err="1">
                <a:solidFill>
                  <a:schemeClr val="tx1"/>
                </a:solidFill>
              </a:rPr>
              <a:t>pkgs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  1.numpy matplotlib </a:t>
            </a:r>
            <a:r>
              <a:rPr lang="en-IN" dirty="0" err="1">
                <a:solidFill>
                  <a:schemeClr val="tx1"/>
                </a:solidFill>
              </a:rPr>
              <a:t>openpyxl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1016-DD7F-4270-9C4B-82D9223A7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0" y="617951"/>
            <a:ext cx="7486239" cy="1202497"/>
          </a:xfrm>
        </p:spPr>
        <p:txBody>
          <a:bodyPr/>
          <a:lstStyle/>
          <a:p>
            <a:r>
              <a:rPr lang="en-US" dirty="0"/>
              <a:t>Applications of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D6D9C-9218-4548-863E-12B77CF94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0" y="1988840"/>
            <a:ext cx="7305960" cy="3888432"/>
          </a:xfrm>
          <a:noFill/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Desktop applications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Web applications with Django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Database applications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Network applications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Games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Data analysis/ science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Machine learning / deep learning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Artificial intelligence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iot</a:t>
            </a:r>
            <a:endParaRPr lang="en-IN" sz="2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68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CF91-1A8A-4208-8CC2-23E395AD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Users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47596-3B56-4CCF-8F2D-AA41A8807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204864"/>
            <a:ext cx="5050904" cy="410445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Google</a:t>
            </a:r>
          </a:p>
          <a:p>
            <a:r>
              <a:rPr lang="en-US" sz="2400" dirty="0"/>
              <a:t>Facebook</a:t>
            </a:r>
          </a:p>
          <a:p>
            <a:r>
              <a:rPr lang="en-US" sz="2400" dirty="0" err="1"/>
              <a:t>Youtube</a:t>
            </a:r>
            <a:endParaRPr lang="en-US" sz="2400" dirty="0"/>
          </a:p>
          <a:p>
            <a:r>
              <a:rPr lang="en-US" sz="2400" dirty="0"/>
              <a:t>Dropbox</a:t>
            </a:r>
          </a:p>
          <a:p>
            <a:r>
              <a:rPr lang="en-US" sz="2400" dirty="0" err="1"/>
              <a:t>Pintrest</a:t>
            </a:r>
            <a:endParaRPr lang="en-US" sz="2400" dirty="0"/>
          </a:p>
          <a:p>
            <a:r>
              <a:rPr lang="en-US" sz="2400" dirty="0"/>
              <a:t>BBC</a:t>
            </a:r>
          </a:p>
          <a:p>
            <a:r>
              <a:rPr lang="en-US" sz="2400" dirty="0"/>
              <a:t>NASA</a:t>
            </a:r>
          </a:p>
          <a:p>
            <a:r>
              <a:rPr lang="en-US" sz="2400" dirty="0"/>
              <a:t>AT&amp;T</a:t>
            </a:r>
          </a:p>
          <a:p>
            <a:r>
              <a:rPr lang="en-IN" sz="2400" dirty="0"/>
              <a:t>New York Times 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Netfilx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8518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CB4D7-3697-4303-804D-974CD6C1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Python Supports Different paradigms</a:t>
            </a:r>
            <a:br>
              <a:rPr lang="en-US" sz="2400" b="1" dirty="0"/>
            </a:b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8B03C-8E32-4A66-B578-B9FB86B1B9AD}"/>
              </a:ext>
            </a:extLst>
          </p:cNvPr>
          <p:cNvSpPr txBox="1"/>
          <p:nvPr/>
        </p:nvSpPr>
        <p:spPr>
          <a:xfrm>
            <a:off x="510678" y="2299138"/>
            <a:ext cx="705678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Scripting  from  ‘shell / </a:t>
            </a:r>
            <a:r>
              <a:rPr lang="en-US" sz="3600" b="1" dirty="0" err="1"/>
              <a:t>perl</a:t>
            </a:r>
            <a:r>
              <a:rPr lang="en-US" sz="3600" b="1" dirty="0"/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Syntax from ‘C &amp; ABC 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Functional programming from ‘C’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Modules from modula-3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OOPs from C++</a:t>
            </a: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49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2271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IN" b="1" dirty="0"/>
              <a:t>      </a:t>
            </a:r>
            <a:r>
              <a:rPr lang="en-IN" b="1" dirty="0">
                <a:solidFill>
                  <a:srgbClr val="FF0000"/>
                </a:solidFill>
              </a:rPr>
              <a:t>Python  Environment</a:t>
            </a:r>
            <a:br>
              <a:rPr lang="en-IN" dirty="0"/>
            </a:br>
            <a:r>
              <a:rPr lang="en-IN" dirty="0"/>
              <a:t>1.Interactive Mode</a:t>
            </a:r>
            <a:br>
              <a:rPr lang="en-IN" dirty="0"/>
            </a:br>
            <a:r>
              <a:rPr lang="en-IN" dirty="0"/>
              <a:t>2.Script Mode</a:t>
            </a:r>
            <a:br>
              <a:rPr lang="en-IN" dirty="0"/>
            </a:br>
            <a:r>
              <a:rPr lang="en-IN" dirty="0"/>
              <a:t>3.IDLE /shell</a:t>
            </a:r>
            <a:br>
              <a:rPr lang="en-IN" dirty="0"/>
            </a:br>
            <a:r>
              <a:rPr lang="en-IN" b="1" dirty="0"/>
              <a:t>      </a:t>
            </a:r>
            <a:r>
              <a:rPr lang="en-IN" b="1" dirty="0">
                <a:solidFill>
                  <a:srgbClr val="FF0000"/>
                </a:solidFill>
              </a:rPr>
              <a:t>Popular IDE’s of Python</a:t>
            </a:r>
            <a:br>
              <a:rPr lang="en-IN" dirty="0"/>
            </a:br>
            <a:r>
              <a:rPr lang="en-IN" dirty="0"/>
              <a:t>1. PyCharm</a:t>
            </a:r>
            <a:br>
              <a:rPr lang="en-IN" dirty="0"/>
            </a:br>
            <a:r>
              <a:rPr lang="en-IN" dirty="0"/>
              <a:t>2. </a:t>
            </a:r>
            <a:r>
              <a:rPr lang="en-IN" dirty="0" err="1"/>
              <a:t>Jupyter</a:t>
            </a:r>
            <a:r>
              <a:rPr lang="en-IN" dirty="0"/>
              <a:t> notebook</a:t>
            </a:r>
            <a:br>
              <a:rPr lang="en-IN" dirty="0"/>
            </a:br>
            <a:r>
              <a:rPr lang="en-IN" dirty="0"/>
              <a:t>3. VS Code</a:t>
            </a:r>
            <a:br>
              <a:rPr lang="en-IN" dirty="0"/>
            </a:br>
            <a:r>
              <a:rPr lang="en-IN" dirty="0"/>
              <a:t>4. Spyder etc..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Python Code-execution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https://i.imgur.com/c0PRvvI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43200"/>
            <a:ext cx="8305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Interpreter</a:t>
            </a:r>
            <a:br>
              <a:rPr lang="en-US" dirty="0"/>
            </a:br>
            <a:r>
              <a:rPr lang="en-US" dirty="0"/>
              <a:t> Python Virtual Machine(PVM)</a:t>
            </a:r>
          </a:p>
        </p:txBody>
      </p:sp>
      <p:pic>
        <p:nvPicPr>
          <p:cNvPr id="4" name="Content Placeholder 3" descr="https://i.imgur.com/PJME67T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0772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>
            <a:extLst>
              <a:ext uri="{FF2B5EF4-FFF2-40B4-BE49-F238E27FC236}">
                <a16:creationId xmlns:a16="http://schemas.microsoft.com/office/drawing/2014/main" id="{5FF2A9CF-04A4-49B3-97FD-760DE3666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178" y="634663"/>
            <a:ext cx="5217573" cy="712663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Python Data Types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utoShape 29">
            <a:extLst>
              <a:ext uri="{FF2B5EF4-FFF2-40B4-BE49-F238E27FC236}">
                <a16:creationId xmlns:a16="http://schemas.microsoft.com/office/drawing/2014/main" id="{E949E87A-6031-476A-AF3E-276327A4E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81" y="1985461"/>
            <a:ext cx="2732191" cy="5124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Immutable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27">
            <a:extLst>
              <a:ext uri="{FF2B5EF4-FFF2-40B4-BE49-F238E27FC236}">
                <a16:creationId xmlns:a16="http://schemas.microsoft.com/office/drawing/2014/main" id="{27C69581-05D4-4EA8-99D6-6AECAC2AC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906" y="2089738"/>
            <a:ext cx="2816583" cy="5124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mutable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7470CCF9-C437-4B3C-83A9-17D21B52F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670" y="3080387"/>
            <a:ext cx="1183899" cy="3843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521E5CF-11BD-40B9-AB68-EEFD6E165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280" y="3099384"/>
            <a:ext cx="1257969" cy="3843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Tuples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7D10FB68-8251-40A2-8C8E-C1337F45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120" y="3080387"/>
            <a:ext cx="1257969" cy="3843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Strings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6">
            <a:extLst>
              <a:ext uri="{FF2B5EF4-FFF2-40B4-BE49-F238E27FC236}">
                <a16:creationId xmlns:a16="http://schemas.microsoft.com/office/drawing/2014/main" id="{61F471AE-9961-488A-8D9E-60E8773E6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243" y="3142754"/>
            <a:ext cx="829551" cy="3843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Sets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25">
            <a:extLst>
              <a:ext uri="{FF2B5EF4-FFF2-40B4-BE49-F238E27FC236}">
                <a16:creationId xmlns:a16="http://schemas.microsoft.com/office/drawing/2014/main" id="{5B0459E0-6E13-4185-93CC-CF3C4BF7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0556" y="3142754"/>
            <a:ext cx="1257967" cy="3843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Dictionaries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4">
            <a:extLst>
              <a:ext uri="{FF2B5EF4-FFF2-40B4-BE49-F238E27FC236}">
                <a16:creationId xmlns:a16="http://schemas.microsoft.com/office/drawing/2014/main" id="{B9310FCC-7CFD-42DD-9BBF-CD0FB4ED8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727" y="3142754"/>
            <a:ext cx="1257967" cy="3843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     List</a:t>
            </a:r>
          </a:p>
        </p:txBody>
      </p:sp>
      <p:sp>
        <p:nvSpPr>
          <p:cNvPr id="25" name="AutoShape 18">
            <a:extLst>
              <a:ext uri="{FF2B5EF4-FFF2-40B4-BE49-F238E27FC236}">
                <a16:creationId xmlns:a16="http://schemas.microsoft.com/office/drawing/2014/main" id="{99C5F187-B214-465C-AC11-145ED89EA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75" y="4130567"/>
            <a:ext cx="1100865" cy="14274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13">
            <a:extLst>
              <a:ext uri="{FF2B5EF4-FFF2-40B4-BE49-F238E27FC236}">
                <a16:creationId xmlns:a16="http://schemas.microsoft.com/office/drawing/2014/main" id="{B08A8C67-1220-4EEB-9666-C57FD21D4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497" y="4129423"/>
            <a:ext cx="1183899" cy="14274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 line string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1BC2DBDE-5A86-42BD-9770-00A165BFE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605" y="4129423"/>
            <a:ext cx="1257969" cy="14274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AutoShape 14">
            <a:extLst>
              <a:ext uri="{FF2B5EF4-FFF2-40B4-BE49-F238E27FC236}">
                <a16:creationId xmlns:a16="http://schemas.microsoft.com/office/drawing/2014/main" id="{31D46D6F-E4FD-447A-98A0-C9D54B543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574" y="4232153"/>
            <a:ext cx="1196489" cy="14274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ABA803A4-067D-4014-9164-D067F531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549" y="4207796"/>
            <a:ext cx="1196488" cy="14274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364D48F8-9190-4A38-90B9-43EADEEFE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452" y="4232153"/>
            <a:ext cx="1257967" cy="14274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C6D7303D-E88E-48D6-842E-716948D331AC}"/>
              </a:ext>
            </a:extLst>
          </p:cNvPr>
          <p:cNvSpPr/>
          <p:nvPr/>
        </p:nvSpPr>
        <p:spPr>
          <a:xfrm>
            <a:off x="1744728" y="2576331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1F95DF7F-2A25-4FF8-89D9-C687438EF416}"/>
              </a:ext>
            </a:extLst>
          </p:cNvPr>
          <p:cNvSpPr/>
          <p:nvPr/>
        </p:nvSpPr>
        <p:spPr>
          <a:xfrm>
            <a:off x="653529" y="3545038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85B84251-4CBE-4467-BA9F-F5608F0A94B2}"/>
              </a:ext>
            </a:extLst>
          </p:cNvPr>
          <p:cNvSpPr/>
          <p:nvPr/>
        </p:nvSpPr>
        <p:spPr>
          <a:xfrm>
            <a:off x="1828548" y="3595133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4E979E4E-8819-4077-8506-086C9B03C23D}"/>
              </a:ext>
            </a:extLst>
          </p:cNvPr>
          <p:cNvSpPr/>
          <p:nvPr/>
        </p:nvSpPr>
        <p:spPr>
          <a:xfrm>
            <a:off x="3128078" y="3545039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760CBDA1-4F07-481E-BF6C-B340AC0D11D5}"/>
              </a:ext>
            </a:extLst>
          </p:cNvPr>
          <p:cNvSpPr/>
          <p:nvPr/>
        </p:nvSpPr>
        <p:spPr>
          <a:xfrm>
            <a:off x="7660507" y="3611860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C3D62FB2-70E6-41F9-B846-9FF9191981E0}"/>
              </a:ext>
            </a:extLst>
          </p:cNvPr>
          <p:cNvSpPr/>
          <p:nvPr/>
        </p:nvSpPr>
        <p:spPr>
          <a:xfrm>
            <a:off x="6486741" y="3581479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44EAE4E5-A68D-49C6-86A6-8655A50987AA}"/>
              </a:ext>
            </a:extLst>
          </p:cNvPr>
          <p:cNvSpPr/>
          <p:nvPr/>
        </p:nvSpPr>
        <p:spPr>
          <a:xfrm>
            <a:off x="5187211" y="3654815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E045F1C8-D8F2-49C5-B7E5-0A80F793DDF5}"/>
              </a:ext>
            </a:extLst>
          </p:cNvPr>
          <p:cNvSpPr/>
          <p:nvPr/>
        </p:nvSpPr>
        <p:spPr>
          <a:xfrm>
            <a:off x="6441040" y="2602168"/>
            <a:ext cx="24902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utoShape 29">
            <a:extLst>
              <a:ext uri="{FF2B5EF4-FFF2-40B4-BE49-F238E27FC236}">
                <a16:creationId xmlns:a16="http://schemas.microsoft.com/office/drawing/2014/main" id="{21675B77-A114-5094-0C50-90171775F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196" y="6087010"/>
            <a:ext cx="3469498" cy="51243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 : True / False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589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9675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IN" dirty="0"/>
              <a:t>Python Keywords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248377"/>
              </p:ext>
            </p:extLst>
          </p:nvPr>
        </p:nvGraphicFramePr>
        <p:xfrm>
          <a:off x="-1" y="1196755"/>
          <a:ext cx="9144000" cy="566124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1986">
                <a:tc>
                  <a:txBody>
                    <a:bodyPr/>
                    <a:lstStyle/>
                    <a:p>
                      <a:pPr marL="136525" algn="just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true</a:t>
                      </a:r>
                      <a:endParaRPr lang="en-IN" sz="40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false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and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as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765"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assert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def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class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continue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break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765"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else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finally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elif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del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except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212"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global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for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if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from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import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541"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raise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try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or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return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988"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nonlocal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in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not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is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lambda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88"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endParaRPr lang="en-IN" sz="2000" kern="1200" dirty="0">
                        <a:solidFill>
                          <a:srgbClr val="000000"/>
                        </a:solidFill>
                        <a:latin typeface="Verdana"/>
                        <a:ea typeface="Times New Roman"/>
                        <a:cs typeface="Times New Roman"/>
                      </a:endParaRP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endParaRPr lang="en-IN" sz="2000" kern="1200" dirty="0">
                        <a:solidFill>
                          <a:srgbClr val="000000"/>
                        </a:solidFill>
                        <a:latin typeface="Verdana"/>
                        <a:ea typeface="Times New Roman"/>
                        <a:cs typeface="Times New Roman"/>
                      </a:endParaRP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while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with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6525" algn="just" defTabSz="914400" rtl="0" eaLnBrk="1" latinLnBrk="0" hangingPunct="1">
                        <a:lnSpc>
                          <a:spcPts val="1235"/>
                        </a:lnSpc>
                        <a:spcAft>
                          <a:spcPts val="0"/>
                        </a:spcAft>
                      </a:pPr>
                      <a:r>
                        <a:rPr lang="en-IN" sz="2000" kern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yield</a:t>
                      </a:r>
                    </a:p>
                  </a:txBody>
                  <a:tcPr marL="54610" marR="54610" marT="54610" marB="54610" anchor="ctr">
                    <a:lnL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2271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FF0000"/>
                </a:solidFill>
              </a:rPr>
              <a:t>     input / output </a:t>
            </a:r>
            <a:br>
              <a:rPr lang="en-IN" dirty="0"/>
            </a:br>
            <a:r>
              <a:rPr lang="en-IN" dirty="0"/>
              <a:t>*. input() : used to read the data from     </a:t>
            </a:r>
            <a:br>
              <a:rPr lang="en-IN" dirty="0"/>
            </a:br>
            <a:r>
              <a:rPr lang="en-IN" dirty="0"/>
              <a:t>                  the user at run-time</a:t>
            </a:r>
            <a:br>
              <a:rPr lang="en-IN" dirty="0"/>
            </a:br>
            <a:r>
              <a:rPr lang="en-IN" dirty="0"/>
              <a:t>*. print():  used to display the data/ </a:t>
            </a:r>
            <a:br>
              <a:rPr lang="en-IN" dirty="0"/>
            </a:br>
            <a:r>
              <a:rPr lang="en-IN" dirty="0"/>
              <a:t>                message/ values on the screen </a:t>
            </a:r>
            <a:br>
              <a:rPr lang="en-IN" dirty="0"/>
            </a:br>
            <a:r>
              <a:rPr lang="en-IN" dirty="0"/>
              <a:t>                ( IDLE )</a:t>
            </a:r>
            <a:br>
              <a:rPr lang="en-IN" dirty="0"/>
            </a:br>
            <a:r>
              <a:rPr lang="en-IN"/>
              <a:t> </a:t>
            </a:r>
            <a:r>
              <a:rPr lang="en-IN" b="1">
                <a:solidFill>
                  <a:srgbClr val="FF0000"/>
                </a:solidFill>
              </a:rPr>
              <a:t>Variable: </a:t>
            </a:r>
            <a:r>
              <a:rPr lang="en-IN" b="1" dirty="0">
                <a:solidFill>
                  <a:srgbClr val="FF0000"/>
                </a:solidFill>
              </a:rPr>
              <a:t>a name given to a memory location to store the values temporarily </a:t>
            </a:r>
            <a:br>
              <a:rPr lang="en-IN" dirty="0"/>
            </a:br>
            <a:r>
              <a:rPr lang="en-IN" dirty="0"/>
              <a:t>* declaration</a:t>
            </a:r>
            <a:br>
              <a:rPr lang="en-IN" dirty="0"/>
            </a:br>
            <a:r>
              <a:rPr lang="en-IN" dirty="0"/>
              <a:t>* assignment 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2271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FF0000"/>
                </a:solidFill>
              </a:rPr>
              <a:t>     Python Types  of operators</a:t>
            </a:r>
            <a:br>
              <a:rPr lang="en-IN" dirty="0"/>
            </a:br>
            <a:r>
              <a:rPr lang="en-IN" dirty="0"/>
              <a:t>*. arithmetic</a:t>
            </a:r>
            <a:br>
              <a:rPr lang="en-IN" dirty="0"/>
            </a:br>
            <a:r>
              <a:rPr lang="en-IN" dirty="0"/>
              <a:t>*. relational</a:t>
            </a:r>
            <a:br>
              <a:rPr lang="en-IN" dirty="0"/>
            </a:br>
            <a:r>
              <a:rPr lang="en-IN" dirty="0"/>
              <a:t>*. assignment </a:t>
            </a:r>
            <a:br>
              <a:rPr lang="en-IN" dirty="0"/>
            </a:br>
            <a:r>
              <a:rPr lang="en-IN" dirty="0"/>
              <a:t>*. logical</a:t>
            </a:r>
            <a:br>
              <a:rPr lang="en-IN" dirty="0"/>
            </a:br>
            <a:r>
              <a:rPr lang="en-IN" dirty="0"/>
              <a:t>*. membership</a:t>
            </a:r>
            <a:br>
              <a:rPr lang="en-IN" dirty="0"/>
            </a:br>
            <a:r>
              <a:rPr lang="en-IN" dirty="0"/>
              <a:t>*. identity</a:t>
            </a:r>
            <a:br>
              <a:rPr lang="en-IN" dirty="0"/>
            </a:br>
            <a:r>
              <a:rPr lang="en-IN" dirty="0"/>
              <a:t>*. bitwise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D90E-3649-4ECF-B48F-A4FA81256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600" y="689023"/>
            <a:ext cx="6919279" cy="624630"/>
          </a:xfrm>
        </p:spPr>
        <p:txBody>
          <a:bodyPr/>
          <a:lstStyle/>
          <a:p>
            <a:pPr algn="ctr"/>
            <a:r>
              <a:rPr lang="en-US" sz="3600" dirty="0"/>
              <a:t>Arithmetic Operators</a:t>
            </a:r>
            <a:endParaRPr lang="en-IN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001CA9-9ED7-4390-B339-53261681D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65618"/>
              </p:ext>
            </p:extLst>
          </p:nvPr>
        </p:nvGraphicFramePr>
        <p:xfrm>
          <a:off x="539552" y="1556792"/>
          <a:ext cx="8064896" cy="48787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1179269398"/>
                    </a:ext>
                  </a:extLst>
                </a:gridCol>
                <a:gridCol w="5976664">
                  <a:extLst>
                    <a:ext uri="{9D8B030D-6E8A-4147-A177-3AD203B41FA5}">
                      <a16:colId xmlns:a16="http://schemas.microsoft.com/office/drawing/2014/main" val="2673532562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Operators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Description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extLst>
                  <a:ext uri="{0D108BD9-81ED-4DB2-BD59-A6C34878D82A}">
                    <a16:rowId xmlns:a16="http://schemas.microsoft.com/office/drawing/2014/main" val="2961794283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//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Perform Floor division(gives integer value after division)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601027421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+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To perform addition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3911312728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-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To perform subtraction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3207837276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*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To perform multiplication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924229759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/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To perform division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3260864360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%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To return remainder after division(Modulus)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2849878193"/>
                  </a:ext>
                </a:extLst>
              </a:tr>
              <a:tr h="583811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**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Perform exponent(raise to power)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4034033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283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8CF7-A91F-40FC-B925-FA245B6E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404664"/>
            <a:ext cx="6343672" cy="709865"/>
          </a:xfrm>
        </p:spPr>
        <p:txBody>
          <a:bodyPr/>
          <a:lstStyle/>
          <a:p>
            <a:r>
              <a:rPr lang="en-US" dirty="0"/>
              <a:t>Comparison Operators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B78180-C213-49C0-AF42-2C5129248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98908"/>
              </p:ext>
            </p:extLst>
          </p:nvPr>
        </p:nvGraphicFramePr>
        <p:xfrm>
          <a:off x="0" y="2276872"/>
          <a:ext cx="9144000" cy="44644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7824">
                  <a:extLst>
                    <a:ext uri="{9D8B030D-6E8A-4147-A177-3AD203B41FA5}">
                      <a16:colId xmlns:a16="http://schemas.microsoft.com/office/drawing/2014/main" val="3828534388"/>
                    </a:ext>
                  </a:extLst>
                </a:gridCol>
                <a:gridCol w="6156176">
                  <a:extLst>
                    <a:ext uri="{9D8B030D-6E8A-4147-A177-3AD203B41FA5}">
                      <a16:colId xmlns:a16="http://schemas.microsoft.com/office/drawing/2014/main" val="3889559354"/>
                    </a:ext>
                  </a:extLst>
                </a:gridCol>
              </a:tblGrid>
              <a:tr h="11843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3200" dirty="0">
                          <a:effectLst/>
                        </a:rPr>
                        <a:t>Operator</a:t>
                      </a:r>
                      <a:endParaRPr lang="en-IN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3200">
                          <a:effectLst/>
                        </a:rPr>
                        <a:t>Description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extLst>
                  <a:ext uri="{0D108BD9-81ED-4DB2-BD59-A6C34878D82A}">
                    <a16:rowId xmlns:a16="http://schemas.microsoft.com/office/drawing/2014/main" val="3458760268"/>
                  </a:ext>
                </a:extLst>
              </a:tr>
              <a:tr h="473215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&lt; 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Less than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42982075"/>
                  </a:ext>
                </a:extLst>
              </a:tr>
              <a:tr h="473215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&gt; 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Greater than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163950864"/>
                  </a:ext>
                </a:extLst>
              </a:tr>
              <a:tr h="69365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&lt;=</a:t>
                      </a:r>
                      <a:endParaRPr lang="en-IN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Less than or equal to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885410043"/>
                  </a:ext>
                </a:extLst>
              </a:tr>
              <a:tr h="69365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&gt;=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Greater than or equal to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2859223480"/>
                  </a:ext>
                </a:extLst>
              </a:tr>
              <a:tr h="473215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==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Equal to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171828437"/>
                  </a:ext>
                </a:extLst>
              </a:tr>
              <a:tr h="473215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!=</a:t>
                      </a:r>
                      <a:endParaRPr lang="en-IN" sz="4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Not equal to</a:t>
                      </a:r>
                      <a:endParaRPr lang="en-IN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768549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694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F6CE32-C2A3-455A-8B9E-1BB37206E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646206"/>
              </p:ext>
            </p:extLst>
          </p:nvPr>
        </p:nvGraphicFramePr>
        <p:xfrm>
          <a:off x="0" y="2132856"/>
          <a:ext cx="9144000" cy="47251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9752">
                  <a:extLst>
                    <a:ext uri="{9D8B030D-6E8A-4147-A177-3AD203B41FA5}">
                      <a16:colId xmlns:a16="http://schemas.microsoft.com/office/drawing/2014/main" val="661148853"/>
                    </a:ext>
                  </a:extLst>
                </a:gridCol>
                <a:gridCol w="6804248">
                  <a:extLst>
                    <a:ext uri="{9D8B030D-6E8A-4147-A177-3AD203B41FA5}">
                      <a16:colId xmlns:a16="http://schemas.microsoft.com/office/drawing/2014/main" val="1211329351"/>
                    </a:ext>
                  </a:extLst>
                </a:gridCol>
              </a:tblGrid>
              <a:tr h="935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Operator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Description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extLst>
                  <a:ext uri="{0D108BD9-81ED-4DB2-BD59-A6C34878D82A}">
                    <a16:rowId xmlns:a16="http://schemas.microsoft.com/office/drawing/2014/main" val="763327552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Assignment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2990357147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/=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Divide and Assign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721044679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+=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Add and assign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613262548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-=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Subtract and Assign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4135205390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*=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Multiply and assign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2141103601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%=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Modulus and assign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291114362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**=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Exponent and assign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222565197"/>
                  </a:ext>
                </a:extLst>
              </a:tr>
              <a:tr h="473667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//=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Floor division and assign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95979981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5390304-C5C4-49A8-852A-493CF08B73B8}"/>
              </a:ext>
            </a:extLst>
          </p:cNvPr>
          <p:cNvSpPr txBox="1">
            <a:spLocks/>
          </p:cNvSpPr>
          <p:nvPr/>
        </p:nvSpPr>
        <p:spPr>
          <a:xfrm>
            <a:off x="971600" y="404664"/>
            <a:ext cx="6343672" cy="70986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Assignment  Operators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930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70C5-F867-4028-97D9-3686863F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60EC15-2E78-4EF2-9DC3-FD1C4347B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359897"/>
              </p:ext>
            </p:extLst>
          </p:nvPr>
        </p:nvGraphicFramePr>
        <p:xfrm>
          <a:off x="0" y="2564904"/>
          <a:ext cx="9144000" cy="417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7744">
                  <a:extLst>
                    <a:ext uri="{9D8B030D-6E8A-4147-A177-3AD203B41FA5}">
                      <a16:colId xmlns:a16="http://schemas.microsoft.com/office/drawing/2014/main" val="2245650444"/>
                    </a:ext>
                  </a:extLst>
                </a:gridCol>
                <a:gridCol w="6876256">
                  <a:extLst>
                    <a:ext uri="{9D8B030D-6E8A-4147-A177-3AD203B41FA5}">
                      <a16:colId xmlns:a16="http://schemas.microsoft.com/office/drawing/2014/main" val="2683261189"/>
                    </a:ext>
                  </a:extLst>
                </a:gridCol>
              </a:tblGrid>
              <a:tr h="9868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</a:rPr>
                        <a:t>Operator</a:t>
                      </a:r>
                      <a:endParaRPr lang="en-IN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</a:rPr>
                        <a:t>Description</a:t>
                      </a:r>
                      <a:endParaRPr lang="en-IN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extLst>
                  <a:ext uri="{0D108BD9-81ED-4DB2-BD59-A6C34878D82A}">
                    <a16:rowId xmlns:a16="http://schemas.microsoft.com/office/drawing/2014/main" val="3042578648"/>
                  </a:ext>
                </a:extLst>
              </a:tr>
              <a:tr h="1165252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and</a:t>
                      </a:r>
                      <a:endParaRPr lang="en-IN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Logical AND(When both conditions are true output will be true)</a:t>
                      </a:r>
                      <a:endParaRPr lang="en-IN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194945384"/>
                  </a:ext>
                </a:extLst>
              </a:tr>
              <a:tr h="1165252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or</a:t>
                      </a:r>
                      <a:endParaRPr lang="en-IN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Logical OR (If any one condition is true output will be true)</a:t>
                      </a:r>
                      <a:endParaRPr lang="en-IN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4182380024"/>
                  </a:ext>
                </a:extLst>
              </a:tr>
              <a:tr h="859143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not</a:t>
                      </a:r>
                      <a:endParaRPr lang="en-IN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Logical NOT(Compliment the condition i.e., reverse)</a:t>
                      </a:r>
                      <a:endParaRPr lang="en-IN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236646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888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6CDC-6494-4274-96CD-D609412C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Operators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608C8F-FB34-4AC3-A387-504F7D461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172827"/>
              </p:ext>
            </p:extLst>
          </p:nvPr>
        </p:nvGraphicFramePr>
        <p:xfrm>
          <a:off x="220314" y="1975548"/>
          <a:ext cx="8816182" cy="46938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9398">
                  <a:extLst>
                    <a:ext uri="{9D8B030D-6E8A-4147-A177-3AD203B41FA5}">
                      <a16:colId xmlns:a16="http://schemas.microsoft.com/office/drawing/2014/main" val="3028813614"/>
                    </a:ext>
                  </a:extLst>
                </a:gridCol>
                <a:gridCol w="7056784">
                  <a:extLst>
                    <a:ext uri="{9D8B030D-6E8A-4147-A177-3AD203B41FA5}">
                      <a16:colId xmlns:a16="http://schemas.microsoft.com/office/drawing/2014/main" val="2518344954"/>
                    </a:ext>
                  </a:extLst>
                </a:gridCol>
              </a:tblGrid>
              <a:tr h="1480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Operator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800" dirty="0">
                          <a:effectLst/>
                        </a:rPr>
                        <a:t>Description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extLst>
                  <a:ext uri="{0D108BD9-81ED-4DB2-BD59-A6C34878D82A}">
                    <a16:rowId xmlns:a16="http://schemas.microsoft.com/office/drawing/2014/main" val="2056901997"/>
                  </a:ext>
                </a:extLst>
              </a:tr>
              <a:tr h="1360424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is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Returns true if identity of two operands are same, else false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303488849"/>
                  </a:ext>
                </a:extLst>
              </a:tr>
              <a:tr h="1852588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is not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Returns true if identity of two operands are not same, else false.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314537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583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5215-6902-470B-B5AA-E907C8DE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Operators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CC9B76-819D-49AB-86B4-1A8988A88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157038"/>
              </p:ext>
            </p:extLst>
          </p:nvPr>
        </p:nvGraphicFramePr>
        <p:xfrm>
          <a:off x="323528" y="2420888"/>
          <a:ext cx="8820472" cy="44371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7508">
                  <a:extLst>
                    <a:ext uri="{9D8B030D-6E8A-4147-A177-3AD203B41FA5}">
                      <a16:colId xmlns:a16="http://schemas.microsoft.com/office/drawing/2014/main" val="1361191370"/>
                    </a:ext>
                  </a:extLst>
                </a:gridCol>
                <a:gridCol w="6632964">
                  <a:extLst>
                    <a:ext uri="{9D8B030D-6E8A-4147-A177-3AD203B41FA5}">
                      <a16:colId xmlns:a16="http://schemas.microsoft.com/office/drawing/2014/main" val="2968325662"/>
                    </a:ext>
                  </a:extLst>
                </a:gridCol>
              </a:tblGrid>
              <a:tr h="12141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dirty="0">
                          <a:effectLst/>
                        </a:rPr>
                        <a:t>Operator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>
                          <a:effectLst/>
                        </a:rPr>
                        <a:t>Description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1915" marR="81915" marT="81915" marB="81915"/>
                </a:tc>
                <a:extLst>
                  <a:ext uri="{0D108BD9-81ED-4DB2-BD59-A6C34878D82A}">
                    <a16:rowId xmlns:a16="http://schemas.microsoft.com/office/drawing/2014/main" val="1156234035"/>
                  </a:ext>
                </a:extLst>
              </a:tr>
              <a:tr h="1611506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in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Returns true if a variable is in sequence of another variable, else false.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685450297"/>
                  </a:ext>
                </a:extLst>
              </a:tr>
              <a:tr h="1611506"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</a:rPr>
                        <a:t>not in</a:t>
                      </a:r>
                      <a:endParaRPr lang="en-IN" sz="3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tc>
                  <a:txBody>
                    <a:bodyPr/>
                    <a:lstStyle/>
                    <a:p>
                      <a:pPr marL="136525" marR="0" algn="just">
                        <a:lnSpc>
                          <a:spcPts val="123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</a:rPr>
                        <a:t>Returns true if a variable is not in sequence of another variable, else false.</a:t>
                      </a:r>
                      <a:endParaRPr lang="en-IN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610" marR="54610" marT="54610" marB="54610"/>
                </a:tc>
                <a:extLst>
                  <a:ext uri="{0D108BD9-81ED-4DB2-BD59-A6C34878D82A}">
                    <a16:rowId xmlns:a16="http://schemas.microsoft.com/office/drawing/2014/main" val="129334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55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2271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FF0000"/>
                </a:solidFill>
              </a:rPr>
              <a:t>Bitwise Operators</a:t>
            </a:r>
            <a:br>
              <a:rPr lang="en-IN" dirty="0"/>
            </a:br>
            <a:r>
              <a:rPr lang="en-IN" dirty="0"/>
              <a:t>&amp; and </a:t>
            </a:r>
            <a:br>
              <a:rPr lang="en-IN" dirty="0"/>
            </a:br>
            <a:r>
              <a:rPr lang="en-IN" dirty="0"/>
              <a:t>| or</a:t>
            </a:r>
            <a:br>
              <a:rPr lang="en-IN" dirty="0"/>
            </a:br>
            <a:r>
              <a:rPr lang="en-IN" dirty="0"/>
              <a:t>^ carat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Straight edge design template</Template>
  <TotalTime>3216</TotalTime>
  <Words>1003</Words>
  <Application>Microsoft Office PowerPoint</Application>
  <PresentationFormat>On-screen Show (4:3)</PresentationFormat>
  <Paragraphs>230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Verdana</vt:lpstr>
      <vt:lpstr>Wingdings</vt:lpstr>
      <vt:lpstr>Wingdings 3</vt:lpstr>
      <vt:lpstr>Ion Boardroom</vt:lpstr>
      <vt:lpstr>Python History</vt:lpstr>
      <vt:lpstr>PowerPoint Presentation</vt:lpstr>
      <vt:lpstr>PowerPoint Presentation</vt:lpstr>
      <vt:lpstr>PowerPoint Presentation</vt:lpstr>
      <vt:lpstr>Applications of Python</vt:lpstr>
      <vt:lpstr>Python Users</vt:lpstr>
      <vt:lpstr>Python Supports Different paradigms </vt:lpstr>
      <vt:lpstr>      Python  Environment 1.Interactive Mode 2.Script Mode 3.IDLE /shell       Popular IDE’s of Python 1. PyCharm 2. Jupyter notebook 3. VS Code 4. Spyder etc.. </vt:lpstr>
      <vt:lpstr>   Python Code-execution   </vt:lpstr>
      <vt:lpstr>Inside Interpreter  Python Virtual Machine(PVM)</vt:lpstr>
      <vt:lpstr>PowerPoint Presentation</vt:lpstr>
      <vt:lpstr>Python Keywords</vt:lpstr>
      <vt:lpstr>     input / output  *. input() : used to read the data from                        the user at run-time *. print():  used to display the data/                  message/ values on the screen                  ( IDLE )  Variable: a name given to a memory location to store the values temporarily  * declaration * assignment   </vt:lpstr>
      <vt:lpstr>     Python Types  of operators *. arithmetic *. relational *. assignment  *. logical *. membership *. identity *. bitwise </vt:lpstr>
      <vt:lpstr>Arithmetic Operators</vt:lpstr>
      <vt:lpstr>Comparison Operators</vt:lpstr>
      <vt:lpstr>PowerPoint Presentation</vt:lpstr>
      <vt:lpstr>Logical Operators</vt:lpstr>
      <vt:lpstr>Identity Operators</vt:lpstr>
      <vt:lpstr>Membership Operators</vt:lpstr>
      <vt:lpstr>Bitwise Operators &amp; and  | or ^ carat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srinivas</dc:creator>
  <cp:lastModifiedBy>SRINIVASA BUTTI</cp:lastModifiedBy>
  <cp:revision>105</cp:revision>
  <dcterms:created xsi:type="dcterms:W3CDTF">2018-12-02T10:50:45Z</dcterms:created>
  <dcterms:modified xsi:type="dcterms:W3CDTF">2026-01-04T09:53:53Z</dcterms:modified>
</cp:coreProperties>
</file>